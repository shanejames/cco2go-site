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8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For CFO: lead with 'this platform pays for itself in 90 days.' For VC: lead with 'this is the AI-native Gainsight killer for SMB/mid-market.'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 angle: 'This is what you're paying for today — fragmented tools, reactive teams, surprise churn.' VC angle: 'This is the market gap. Every company with 50+ customers has this problem.'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'One platform, one budget line, replaces Gainsight + Zendesk + SurveyMonkey + spreadsheets.' VC: '20 AI agents is the moat — no competitor has this depth of automation.'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eliminates 45 min/day of CSM ramp-up time. That's 187 hours/year per CSM recovered.' VC: 'This is the Superhuman for CS — the first screen that makes CSMs love the tool.'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'The AI does the analysis — the human approves and personalizes. That's 3x throughput per CSM.' VC: 'Human-in-the-loop AI is the right architecture for CS. Full autonomy scares buyers.'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eliminates 3-5 hours/week of meeting prep per CSM.' VC: 'The AI brief is the wedge feature — once you use it, you can't go back to manual prep.'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'Every customer conversation is now strategic, not reactive.' VC: 'The Churn Cascade is IP — it's from Shane's book and codified into the platform.'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is the difference between fighting fires and preventing them.' VC: 'No competitor shows portfolio-level dimension analysis with auto-playbook matching.'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prevents the #1 CS failure mode — overloaded CSMs silently drowning.' VC: 'Manager-level tooling is what gets the VP of CS to buy. CSM tools get adoption. Manager tools get the PO.'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is the dashboard I've been asking CS to build for 3 years.' VC: 'Executive dashboards drive enterprise adoption and upsell to larger deals.'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turns your CS managers from firefighters into coaches.' VC: 'Session history + answer comparison over time is a retention feature for the platform itself.'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'20 agents running daily means your 3-person CS team operates like a 10-person team.' VC: 'The agent architecture is the technical moat — each agent is a product feature competitors would need to build from scratch.'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'Configurable thresholds mean you tune to your business, not a vendor's assumptions.' VC: 'Configurability is what makes this enterprise-ready vs. a toy.'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'Your team reviews AI recommendations instead of building them from scratch — 3x throughput.' VC: 'This is the agent orchestration layer. It's Zapier for CS with AI brains.'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'No-code agent creation means CS can automate without IT tickets.' VC: 'User-created agents = compounding platform value. More agents = higher switching costs.'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replaces the broken telephone between CS and Product. Decisions are data-driven.' VC: 'VoC routing to PM is a unique differentiator — competitors stop at the CS dashboard.'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'Success plans are how you prove CS is executing, not just existing.' VC: 'Plan templates + milestone tracking = scalable CS operations for Series A-C companies.'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'Playbooks encode institutional knowledge — when your best CSM leaves, the playbook stays.' VC: 'Template marketplace is a future monetization vector.'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is the pipeline that doesn't exist in most CS orgs. It's found revenue.' VC: 'CSQL pipeline is the wedge into RevOps — it makes CS indispensable to the revenue motion.'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'$3.1M at risk identified proactively — even saving 30% of that pays for the platform 10x over.' VC: 'Churn autopsy feedback loop is a data flywheel — gets smarter with every customer.'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'Fast T2FV = lower churn at renewal. Every day saved in onboarding compounds into retention.' VC: 'T2FV is the metric investors care about most — it predicts everything downstream.'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'Feature adoption directly correlates with renewal probability. This is leading indicator data.' VC: 'Product-led growth meets CS — adoption data is the bridge.'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'This eliminates the Zendesk license and connects support data to revenue risk.' VC: 'Unified ticketing is table stakes but necessary — it completes the data picture for AI agents.'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'One platform replaces 5-6 tools. Net cost reduction even before productivity gains.' VC: 'Integration breadth is the land-and-expand strategy — each integration deepens lock-in.'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CFO: 'At $500/user/month with 5 CSMs, you're at $30K/year. If you save ONE $145K account, ROI is 4.8x.' VC: '$500/user is the sweet spot — cheaper than Gainsight, more AI than ChurnZero, built for the SMB/mid-market gap.'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828800"/>
            <a:ext cx="9144000" cy="20116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965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CCOPilot.ai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AI-Powered Customer Success Platform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AI Agents  •  One Platform  •  Zero Churn Surprises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Shane James  |  Founder &amp; CEO  |  shane.james@cco2go.ai  |  (813) 666-8427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$1.6 Trillion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 costs U.S. companies $1.6T per year. Most CS teams are fighting it with spreadsheets and gut instinct.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20040" cy="320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8105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CSMs manage 30-50 accounts manually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810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prioritization, no signals, no automation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320040" cy="320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4048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scores that don't predict anything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24048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lagging indicators, not AI-weighted signals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320040" cy="320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017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9992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surprises blindside leadership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29992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invisible until the customer cancels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20040" cy="320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3593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revenue left on the table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35935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CSQL pipeline, no formal expansion motion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320040" cy="320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41879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5-6 disconnected tools per CS team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41879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ticketing, surveys, docs, spreadsheets, Slack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CCOPilot Replaces the Entire CS Tech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24/7 across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portfolio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289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289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6289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289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5-6 tools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 uses today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22%→7%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720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Reduction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results from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years in CS leadership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151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151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115%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5151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 Achieved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151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85% — expansion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unlocked by 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Day in the Life of a CSM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morning login to end of day — how CCOPilot transforms every workflow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8:00 AM — The CSM Opens Their Day</a:t>
            </a:r>
            <a:endParaRPr lang="en-US" sz="2200" dirty="0"/>
          </a:p>
        </p:txBody>
      </p:sp>
      <p:pic>
        <p:nvPicPr>
          <p:cNvPr id="4" name="Image 0" descr="/mnt/user-data/uploads/177332904254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ZERO WASTED TIME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AI-prioritized daily queue — fires first, then tasks, then follow-ups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health bar shows 10 accounts at a glance with color zones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AI actions queued overnight — the system worked while you slept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digging through CRM, email, or Slack to figure out what to do today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CSMs start working in 30 seconds, not 30 minutes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8:15 AM — The AI Queue: Approvals &amp; Prioritization</a:t>
            </a:r>
            <a:endParaRPr lang="en-US" sz="2200" dirty="0"/>
          </a:p>
        </p:txBody>
      </p:sp>
      <p:pic>
        <p:nvPicPr>
          <p:cNvPr id="4" name="Image 0" descr="/mnt/user-data/uploads/1773329058474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AI DOES THE TRIAGE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approvals surface customer complaints with revenue context ($12K/mo exposed)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approvals queue health check surveys for CSM review before sending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Pulse sidebar — health score, at-risk MRR, expansion ready count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Queue shows 60 AI-proposed actions awaiting human review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CSM reviews and acts on AI recommendations, not raw data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8:30 AM — Customer 360: AI Brief in 10 Seconds</a:t>
            </a:r>
            <a:endParaRPr lang="en-US" sz="2200" dirty="0"/>
          </a:p>
        </p:txBody>
      </p:sp>
      <p:pic>
        <p:nvPicPr>
          <p:cNvPr id="4" name="Image 0" descr="/mnt/user-data/uploads/1773329076774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KNOW EVERYTHING INSTANTLY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Customer Brief auto-generates: health analysis, recommended actions, key risks, opportunities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task creation from any AI recommendation ('+Task' buttons)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 48/100, renewal in 34 days, competitor evaluation in progress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tabs: Overview, Relationship, Work, Business, Intelligence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CSMs walk into every meeting fully prepared, every time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9:00 AM — AI Meeting Prep with Churn Cascade</a:t>
            </a:r>
            <a:endParaRPr lang="en-US" sz="2200" dirty="0"/>
          </a:p>
        </p:txBody>
      </p:sp>
      <p:pic>
        <p:nvPicPr>
          <p:cNvPr id="4" name="Image 0" descr="/mnt/user-data/uploads/1773329098334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NEVER WALK IN BLIND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meeting briefing with health signals, churn stage, and red flags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Cascade maps to book chapters — 'Stage 3: Escalation to Buyer'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Scenarios from proven playbooks with success rates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Objective written by AI: 'Surface value received, defend the investment to CFO'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PowerPoint for exec-level customer meetings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Intelligence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for three roles — CSM, Manager, Executive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View — Risk Dimensions at a Glance</a:t>
            </a:r>
            <a:endParaRPr lang="en-US" sz="2200" dirty="0"/>
          </a:p>
        </p:txBody>
      </p:sp>
      <p:pic>
        <p:nvPicPr>
          <p:cNvPr id="4" name="Image 0" descr="/mnt/user-data/uploads/177332911544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SEE THE FOREST, NOT JUST TREES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 ARR across 9 accounts with 6 health dimensions scored and ranked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Risk Driver identified automatically — 'Usage Patterns' dragging portfolio down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suggests matching playbooks: Onboarding Kickoff, Rescue, Expansion Capture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dimension is clickable — drill into which accounts are affected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Managers fix systemic problems, not individual fires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View — CSM Workload &amp; Coaching Signals</a:t>
            </a:r>
            <a:endParaRPr lang="en-US" sz="2200" dirty="0"/>
          </a:p>
        </p:txBody>
      </p:sp>
      <p:pic>
        <p:nvPicPr>
          <p:cNvPr id="4" name="Image 0" descr="/mnt/user-data/uploads/1773329143293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MANAGE THE TEAM, NOT JUST THE ACCOUNTS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per CSM with load-vs-average comparison (+140%, -62%, -78%)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Flags auto-detected — which CSMs need a 1:1 this week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CSM row to open their account list with health breakdown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1:1 agenda with coaching priorities and driving questions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VP of CS knows exactly where to spend their time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View — CFO-Ready Portfolio Dashboard</a:t>
            </a:r>
            <a:endParaRPr lang="en-US" sz="2200" dirty="0"/>
          </a:p>
        </p:txBody>
      </p:sp>
      <p:pic>
        <p:nvPicPr>
          <p:cNvPr id="4" name="Image 0" descr="/mnt/user-data/uploads/1773329155022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BOARD-READY NUMBERS IN ONE CLICK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at Risk ($648K), Churn Forecast ($227K), Expansion Ready (2 accounts)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Health Waterfall — ARR distribution across zones: 18% healthy, 65% caution, 16% at-risk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CSQL Pipeline with $195K in active expansion opportunities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 card is clickable — drill into the accounts behind the number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Board decks built from real data, not fabricated optimism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AI-Powered 1:1 Prep — Manager ↔ CSM</a:t>
            </a:r>
            <a:endParaRPr lang="en-US" sz="2200" dirty="0"/>
          </a:p>
        </p:txBody>
      </p:sp>
      <p:pic>
        <p:nvPicPr>
          <p:cNvPr id="4" name="Image 0" descr="/mnt/user-data/uploads/177332918368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COACHING THAT ACTUALLY IMPROVES PERFORMANCE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Snapshot: 4 accounts, $3.2M ARR, 1G/1Y/2R health distribution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coaching priorities: 'Walk me through your save plan for $455K at risk'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 tracks answers over time — did the CSM follow through?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PPTX or send calendar invite directly from the platform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Manager 1:1s become data-driven coaching sessions, not status updates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AI Agents — Your Always-On CS Team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24/7: monitoring health, detecting churn, scoring sentiment, qualifying expansion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That Works While Your Team Sleeps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8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Agents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Churn, renewal, sentiment,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onboarding, expansion...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289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289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6289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289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scored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day, not monthly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60+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45720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Actions/Day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AI-proposed tasks, alerts,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escalations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151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151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5151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Loop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151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proposes, human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and personalizes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Settings — Configure &amp; Control Every Agent</a:t>
            </a:r>
            <a:endParaRPr lang="en-US" sz="2200" dirty="0"/>
          </a:p>
        </p:txBody>
      </p:sp>
      <p:pic>
        <p:nvPicPr>
          <p:cNvPr id="4" name="Image 0" descr="/mnt/user-data/uploads/1773329356435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AI YOU CAN TUNE, NOT A BLACK BOX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agents organized by category: Core, Detection, Relationship, Expansion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has configurable thresholds (e.g., health drop = 10 points)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'Run Now' buttons for on-demand execution — don't wait for the schedule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'How it works' expandable section explains every agent's logic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CS leaders control the AI — it doesn't control them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Queue — Review &amp; Approve AI Actions</a:t>
            </a:r>
            <a:endParaRPr lang="en-US" sz="2200" dirty="0"/>
          </a:p>
        </p:txBody>
      </p:sp>
      <p:pic>
        <p:nvPicPr>
          <p:cNvPr id="4" name="Image 0" descr="/mnt/user-data/uploads/1773329385487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TRUST BUT VERIFY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pending AI-proposed actions with confidence scores (55%-100%)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agent type: Churn Monitor, Engagement, Renewal Prep, Escalation, Onboarding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action shows: customer, ARR, signal type, and recommended task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reject, or modify before execution — full human control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AI scales the team without sacrificing judgment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Virtual CSM Builder — Create Custom AI Agents</a:t>
            </a:r>
            <a:endParaRPr lang="en-US" sz="2200" dirty="0"/>
          </a:p>
        </p:txBody>
      </p:sp>
      <p:pic>
        <p:nvPicPr>
          <p:cNvPr id="4" name="Image 0" descr="/mnt/user-data/uploads/1773329399317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BUILD YOUR OWN AI WORKFORCE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active custom agents: Survey Response, Recovery, Engagement, Renewals, Onboarding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has configurable workers and triggers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'Run Now' with customer selection for on-demand agent execution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History tracks every action taken by each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CS leaders build automation without engineering resources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Voice of Customer Intelligence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feedback to product decisions — with AI doing the analysis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VoC Dashboard — Feedback Intelligence at Scale</a:t>
            </a:r>
            <a:endParaRPr lang="en-US" sz="2200" dirty="0"/>
          </a:p>
        </p:txBody>
      </p:sp>
      <p:pic>
        <p:nvPicPr>
          <p:cNvPr id="4" name="Image 0" descr="/mnt/user-data/uploads/177332919632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HEAR EVERY CUSTOMER, NOT JUST THE LOUDEST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feedback items in 30 days, broken down by priority (Critical/High/Medium)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scoring: 36% negative — automatic alert threshold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Queue Health: 9 pending items for product team review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by Type: 70% bugs, 22% feature requests, 9% complaints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Product team gets structured, prioritized customer voice — not raw Slack noise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Proactive CS Motions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Plans, Playbooks, CSQL Pipeline, and Churn Pattern Detection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Plans — Structured Customer Journeys</a:t>
            </a:r>
            <a:endParaRPr lang="en-US" sz="2200" dirty="0"/>
          </a:p>
        </p:txBody>
      </p:sp>
      <p:pic>
        <p:nvPicPr>
          <p:cNvPr id="4" name="Image 0" descr="/mnt/user-data/uploads/177332921319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EVERY CUSTOMER HAS A PLAN, NOT JUST THE TOP 10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plans with milestone tracking (0/4, 2/10 completed)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tracking: 59 days, 180 days — tailored to customer segment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plan types visible: Recovery, Enterprise Expansion, Rapid Adoption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tracking: Active, Completed — with start dates and progress bars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customer falls through the cracks — every account has a documented path to value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Playbooks — Automated Workflows for Every Scenario</a:t>
            </a:r>
            <a:endParaRPr lang="en-US" sz="2200" dirty="0"/>
          </a:p>
        </p:txBody>
      </p:sp>
      <p:pic>
        <p:nvPicPr>
          <p:cNvPr id="4" name="Image 0" descr="/mnt/user-data/uploads/1773329226599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BEST PRACTICES THAT EXECUTE THEMSELVES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active playbooks: Re-engagement, Expansion Capture, Onboarding Rescue, At-Risk Recovery, Silent Churn, Critical Escalation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playbook has triggers, actions, execution count, and success rate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Goal-Back Wizard: start with the outcome, AI builds the playbook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library + create from scratch options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Your best CSM's playbook runs for every CSM, automatically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CSQL Pipeline — CS-Sourced Expansion Revenue</a:t>
            </a:r>
            <a:endParaRPr lang="en-US" sz="2200" dirty="0"/>
          </a:p>
        </p:txBody>
      </p:sp>
      <p:pic>
        <p:nvPicPr>
          <p:cNvPr id="4" name="Image 0" descr="/mnt/user-data/uploads/1773329259695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CS BECOMES A REVENUE ENGINE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$195K in active pipeline ARR with 50% conversion rate on closed deals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board: Identified → Qualified → Conversation → Proposal → Won/Lost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48-hour SLA enforcement — breached opportunities are flagged in red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 criteria: health above threshold + usage growth + triggering event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CS sources expansion revenue with the same rigor as Sales sources new logos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Churn Pattern Detection — Predict Before It Happens</a:t>
            </a:r>
            <a:endParaRPr lang="en-US" sz="2200" dirty="0"/>
          </a:p>
        </p:txBody>
      </p:sp>
      <p:pic>
        <p:nvPicPr>
          <p:cNvPr id="4" name="Image 0" descr="/mnt/user-data/uploads/1773329273190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SAVE ACCOUNTS BEFORE THEY LEAVE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 Matching: 5 accounts showing churn patterns, $3.1M ARR at risk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Loss pattern detected across 5 accounts with health and match scores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Autopsy Pipeline: completed churn analysis feeds back into pattern detection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'Could Have Saved: 100%' — the system learns from every churned account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Churn prediction based on real patterns, not guesswork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Onboarding &amp; Adoption Intelligence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Value tracking, feature adoption monitoring, and early warning detection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Onboarding Command Center — T2FV Tracking</a:t>
            </a:r>
            <a:endParaRPr lang="en-US" sz="2200" dirty="0"/>
          </a:p>
        </p:txBody>
      </p:sp>
      <p:pic>
        <p:nvPicPr>
          <p:cNvPr id="4" name="Image 0" descr="/mnt/user-data/uploads/177332930841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CUSTOMERS HIT VALUE FASTER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T2FV Analytics: 4 achieved, 1 overdue, avg 46 days (target: 45d)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benchmarking: SMB 3d, Mid-Market 14d, Enterprise 30d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T2FV alerts with variance tracking (+1d behind, 5d overdue)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Recently Achieved list with early/late indicators (11d early, 36d late)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Onboarding failures caught at day 5, not day 90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Adoption Intelligence</a:t>
            </a:r>
            <a:endParaRPr lang="en-US" sz="2200" dirty="0"/>
          </a:p>
        </p:txBody>
      </p:sp>
      <p:pic>
        <p:nvPicPr>
          <p:cNvPr id="4" name="Image 0" descr="/mnt/user-data/uploads/1773329286778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KNOW WHAT CUSTOMERS ACTUALLY USE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2,625 total feature events tracked across 9 active customers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Per-feature adoption rates with visual bars — instantly see what's sticky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vs. Critical segmentation: 0 healthy, 36 critical adoption gaps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&amp; Nudges tab: auto-nudge customers toward underused features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Product and CS align on what drives retention vs. what's shelfware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 Ticketing &amp; Integrations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ticketing system plus deep integrations with your existing stack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 Tickets — Unified in the CS Platform</a:t>
            </a:r>
            <a:endParaRPr lang="en-US" sz="2200" dirty="0"/>
          </a:p>
        </p:txBody>
      </p:sp>
      <p:pic>
        <p:nvPicPr>
          <p:cNvPr id="4" name="Image 0" descr="/mnt/user-data/uploads/1773329467162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303520" cy="3291840"/>
          </a:xfrm>
          <a:prstGeom prst="rect">
            <a:avLst/>
          </a:prstGeom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852160" y="960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SUPPORT DATA FEEDS CS INTELLIGENCE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52160" y="141732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total tickets with priority, source (Portal/Internal/Jira), and status tracking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critical tickets flagged — AI escalation agent monitors these automatically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ticket links to customer health score (35, 44, 12 visible)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Multi-source: Portal submissions, internal reports, Jira sync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Support isn't a silo — ticket patterns feed health scores and churn prediction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 — Connect Your Entire Stack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 connects to the tools your team already uses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82880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sync + AI sentiment analysis on every customer email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Calendar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sync for call prep and activity tracking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 meetings to customers with 85% confidence threshold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HubSpot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sync — contacts, deals, and activity bidirectional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28800" y="3657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CRM integration for larger deployments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sync — ticket patterns feed churn prediction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146304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0" y="1463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alerts delivered where your team works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01168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data for ARR tracking and expansion signals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256032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0" y="2560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Zendesk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 ingestion for health score calculation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310896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29200" y="31089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QuickBooks / FreshBooks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data for SMB customer segments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365760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0" y="36576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17920" y="3657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and email for Microsoft-shop customers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Business Case — ROI in 90 Days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3-5x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858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 Productivity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triage,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prep, and monitoring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289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289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6289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Reduction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289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22% to 7%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track record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$195K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45720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Created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CS-sourced expansion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in 90 days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15100" y="1371600"/>
            <a:ext cx="166878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15100" y="1645920"/>
            <a:ext cx="16687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5→1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515100" y="256032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Consolidation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15100" y="30632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replaces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Gainsight, Zendesk, etc.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CCOPilot.ai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9144000" cy="219456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 See It Live?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personalized demo with your actual customer data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Shane James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CCOPilot.ai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shane.james@cco2go.ai  |  (813) 666-8427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www.ccopilot.ai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years C-suite CS leadership  •  2 Fortune 500 acquisitions (IBM, ServiceNow)  •  Author: 'Your Customers Are Lying to You'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3058</Words>
  <Application>Microsoft Macintosh PowerPoint</Application>
  <PresentationFormat>On-screen Show (16:9)</PresentationFormat>
  <Paragraphs>331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CCOPilot.ai — The AI-Powered Customer Success Platform</dc:title>
  <dc:subject>PptxGenJS Presentation</dc:subject>
  <dc:creator>Shane James</dc:creator>
  <cp:lastModifiedBy>Shane James</cp:lastModifiedBy>
  <cp:revision>2</cp:revision>
  <dcterms:created xsi:type="dcterms:W3CDTF">2026-03-12T15:34:55Z</dcterms:created>
  <dcterms:modified xsi:type="dcterms:W3CDTF">2026-03-12T15:42:11Z</dcterms:modified>
</cp:coreProperties>
</file>