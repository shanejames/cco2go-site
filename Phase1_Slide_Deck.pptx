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F6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TRAINING PROGRAM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Discovery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  |  Blended Learning  |  Based on Your Customers Are Lying to You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2194560" cy="411480"/>
          </a:xfrm>
          <a:prstGeom prst="rect">
            <a:avLst/>
          </a:prstGeom>
          <a:solidFill>
            <a:srgbClr val="1A2F6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246120"/>
            <a:ext cx="2194560" cy="411480"/>
          </a:xfrm>
          <a:prstGeom prst="rect">
            <a:avLst/>
          </a:prstGeom>
          <a:solidFill>
            <a:srgbClr val="1A2F6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3246120"/>
            <a:ext cx="2194560" cy="411480"/>
          </a:xfrm>
          <a:prstGeom prst="rect">
            <a:avLst/>
          </a:prstGeom>
          <a:solidFill>
            <a:srgbClr val="1A2F6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Shane James  |  Chief Customer Officer  |  CCO2go.ai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PHILOSOPHY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feature training program.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change. These principles don't.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560320" cy="26517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signals, not feelings.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data is actually telling you before you trust a metric.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920240"/>
            <a:ext cx="2560320" cy="26517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92024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Confidence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revenue outcomes,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relationship scores.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is a growth function.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920240"/>
            <a:ext cx="2560320" cy="26517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92024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971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agents,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 agent work.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automate and what requires human judgment.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builds toward one outcome: the CSM becomes an Outcome Architect.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PROGRAM STRUCTURE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06040" cy="37033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606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777240"/>
            <a:ext cx="91440" cy="3703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Discovery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account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assessment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46120" y="777240"/>
            <a:ext cx="2606040" cy="3703320"/>
          </a:xfrm>
          <a:prstGeom prst="rect">
            <a:avLst/>
          </a:prstGeom>
          <a:solidFill>
            <a:srgbClr val="141E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VPC delivered,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CSQL identified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606040" cy="3703320"/>
          </a:xfrm>
          <a:prstGeom prst="rect">
            <a:avLst/>
          </a:prstGeom>
          <a:solidFill>
            <a:srgbClr val="141E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expansion convo,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board-ready metric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weeks. One outcome: know your accounts cold.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234440"/>
            <a:ext cx="192024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234440"/>
            <a:ext cx="19202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560320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532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myth exposed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3063240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3035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Truth 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566160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3538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fundamentals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41448" y="1234440"/>
            <a:ext cx="192024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1234440"/>
            <a:ext cx="192024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7" name="Text 15"/>
          <p:cNvSpPr/>
          <p:nvPr/>
        </p:nvSpPr>
        <p:spPr>
          <a:xfrm>
            <a:off x="253288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2888" y="16642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Your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Customers' Real Situation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32888" y="2560320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0" name="Text 18"/>
          <p:cNvSpPr/>
          <p:nvPr/>
        </p:nvSpPr>
        <p:spPr>
          <a:xfrm>
            <a:off x="2670048" y="2532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Takeover 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32888" y="3063240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2" name="Text 20"/>
          <p:cNvSpPr/>
          <p:nvPr/>
        </p:nvSpPr>
        <p:spPr>
          <a:xfrm>
            <a:off x="2670048" y="3035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mapping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32888" y="3566160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4" name="Text 22"/>
          <p:cNvSpPr/>
          <p:nvPr/>
        </p:nvSpPr>
        <p:spPr>
          <a:xfrm>
            <a:off x="2670048" y="3538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strategy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90288" y="1234440"/>
            <a:ext cx="192024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1234440"/>
            <a:ext cx="1920240" cy="54864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81728" y="16642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1728" y="2560320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532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Moments That Matter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81728" y="3063240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035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touchpoints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3566160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3538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Value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39128" y="1234440"/>
            <a:ext cx="192024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39128" y="1234440"/>
            <a:ext cx="1920240" cy="54864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37" name="Text 35"/>
          <p:cNvSpPr/>
          <p:nvPr/>
        </p:nvSpPr>
        <p:spPr>
          <a:xfrm>
            <a:off x="683056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30568" y="16642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30568" y="2560320"/>
            <a:ext cx="73152" cy="73152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40" name="Text 38"/>
          <p:cNvSpPr/>
          <p:nvPr/>
        </p:nvSpPr>
        <p:spPr>
          <a:xfrm>
            <a:off x="6967728" y="2532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portfolio review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30568" y="3063240"/>
            <a:ext cx="73152" cy="73152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3035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NRR calculation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30568" y="3566160"/>
            <a:ext cx="73152" cy="73152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44" name="Text 42"/>
          <p:cNvSpPr/>
          <p:nvPr/>
        </p:nvSpPr>
        <p:spPr>
          <a:xfrm>
            <a:off x="6967728" y="3538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manager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| DAYS 1–7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Your Accounts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1.1  |  THE NPS MYTH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Is Dead. You Just Haven't Buried It Yet.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0" cy="16459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81328"/>
            <a:ext cx="2011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26234"/>
            <a:ext cx="182880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survey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B2B SaaS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2011680" cy="16459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481328"/>
            <a:ext cx="2011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51760" y="2326234"/>
            <a:ext cx="182880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orgs predicted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abandon NPS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(Gartner 2025)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2011680" cy="16459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81328"/>
            <a:ext cx="2011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46320" y="2326234"/>
            <a:ext cx="182880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can be while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quietly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leave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371600"/>
            <a:ext cx="2011680" cy="16459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481328"/>
            <a:ext cx="2011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040880" y="2326234"/>
            <a:ext cx="182880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flaws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Reasons NPS Fails in Production: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685032"/>
            <a:ext cx="73152" cy="7315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predict retention — a 9/10 can still churn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685032"/>
            <a:ext cx="73152" cy="7315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all customers equally — a $5K account ≠ a $500K account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096512"/>
            <a:ext cx="73152" cy="7315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false confidence — board is happy while accounts quietly die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4096512"/>
            <a:ext cx="73152" cy="7315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023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 manipulation — teams time surveys to maximize scores, not insight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1.2  |  THE NRR TRUTH TEST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NRR is probably inflated. Here's how to find the real number.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560320" cy="155448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Price Increases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contractual price escalators. Drop &gt;5pts? You have a pricing problem disguised as growth.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560320" cy="155448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88720"/>
            <a:ext cx="54864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572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Expansion Deals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93852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customers actively choose to buy more? &gt;30% passive = inflated NRR.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188720"/>
            <a:ext cx="2560320" cy="155448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188720"/>
            <a:ext cx="54864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572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Contraction First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193852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expansion AND contraction in the same period. +20 seats, −15 seats = net 5, not 20.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554480" y="3108960"/>
            <a:ext cx="2560320" cy="155448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54480" y="3108960"/>
            <a:ext cx="54864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3493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Cohort NRR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385876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by segment. 110% aggregate can hide 130% enterprise + 75% SMB disaster.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2560320" cy="155448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3108960"/>
            <a:ext cx="54864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3493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True NRR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385876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acquirers find in the data room. This is what actually matters.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1.3  |  READING HEALTH SCORES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 is not adoption. The 7 components that actually predict retention.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7498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591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&gt; frequency — how many features?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57400"/>
            <a:ext cx="54864" cy="7498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1305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Velocity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459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matters more than snapshot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26080"/>
            <a:ext cx="54864" cy="749808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999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Trajectory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3284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velocity &amp; sentiment, not raw count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94760"/>
            <a:ext cx="54864" cy="749808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86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867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1970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tone, meeting behavior, champion advocacy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118872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188720"/>
            <a:ext cx="54864" cy="7498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280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1500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Signals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15000" y="1591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payments = early churn predictor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05740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057400"/>
            <a:ext cx="54864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715000" y="21305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Depth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15000" y="2459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custom configs, multi-dept use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92608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926080"/>
            <a:ext cx="54864" cy="749808"/>
          </a:xfrm>
          <a:prstGeom prst="rect">
            <a:avLst/>
          </a:prstGeom>
          <a:solidFill>
            <a:srgbClr val="7A93C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715000" y="2999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/ Survey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15000" y="33284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not the story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794760"/>
            <a:ext cx="4206240" cy="74980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3794760"/>
            <a:ext cx="54864" cy="749808"/>
          </a:xfrm>
          <a:prstGeom prst="rect">
            <a:avLst/>
          </a:prstGeom>
          <a:solidFill>
            <a:srgbClr val="7A93C0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886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715000" y="3867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/ Survey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15000" y="41970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not the story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| DAYS 8–14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Your Customers' Real Situation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  |  THE DISCOVERY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Takeover: Discover → Design → Drive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0604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06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2240280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214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Truth 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715768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5968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baseline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" y="3191256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072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+ bottom 10 account interviews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666744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5478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from sales handoff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4142232"/>
            <a:ext cx="7315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023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53512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154680" y="1234440"/>
            <a:ext cx="260604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234440"/>
            <a:ext cx="260604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9272" y="2240280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56432" y="21214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framework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2715768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25968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9272" y="3191256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56432" y="3072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architecture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9272" y="3666744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35478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CSQL qualification criteria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9272" y="4142232"/>
            <a:ext cx="73152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3" name="Text 31"/>
          <p:cNvSpPr/>
          <p:nvPr/>
        </p:nvSpPr>
        <p:spPr>
          <a:xfrm>
            <a:off x="3456432" y="4023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queue setup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88152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5989320" y="1234440"/>
            <a:ext cx="260604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9320" y="1234440"/>
            <a:ext cx="2606040" cy="54864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26480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53912" y="2240280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291072" y="21214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conversations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53912" y="2715768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291072" y="25968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saves in flight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53912" y="3191256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291072" y="3072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metrics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53912" y="3666744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291072" y="35478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alignment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53912" y="4142232"/>
            <a:ext cx="73152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291072" y="4023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ownership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 |  CHAMPION MAPPING &amp; STAKEHOLDER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48-hour rule applies when a champion leaves. Are you watching?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228600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internal advocate. Believes in the product. Sells internally.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LinkedIn, email response, meeting attendance.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228600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owner. Economic buyer. May not use the product.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ROI narrative, financial impact, executive alignment.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228600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operator. Adoption data lives here.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signal: usage decline before the champion even knows.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11880"/>
            <a:ext cx="54864" cy="12801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Champion Departure Protocol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departure is a top-3 predictor of churn. The 48-hour window is when you identify the new power structure, re-articulate value, and prevent a competitor from filling the vacuum. AI monitors LinkedIn, email bounce-backs, and meeting attendance shifts. When the signal fires — act immediately.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2.3  |  SEGMENTATION &amp; TIME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book of business is a time management failure.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ARR + High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High ARR + High Expansion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human-led engagement.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VPCs. Weekly monitoring.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time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74320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743200" cy="54864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ARR or Moderate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signals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06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8529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hybrid programs.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AI-triggered touchpoints + human review.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3794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time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72200" y="1234440"/>
            <a:ext cx="2743200" cy="3566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234440"/>
            <a:ext cx="2743200" cy="54864"/>
          </a:xfrm>
          <a:prstGeom prst="rect">
            <a:avLst/>
          </a:prstGeom>
          <a:solidFill>
            <a:srgbClr val="7A93C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ARR, stable signals,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expansion potential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606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28529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touchpoints.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for anomalies only.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3794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time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| DAYS 15–21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Moments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3.1  |  THE 5 MOMENTS THAT MATTER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all 5. Your job is to act on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102412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Adoption Cliff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Week 3–8 post go-live  ·  Usage spike → plateau → decline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here: 10× more impact than a Day-30 check-in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4160520" cy="102412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04288"/>
            <a:ext cx="54864" cy="102412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Champion Change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48-hour window  ·  LinkedIn change, email bounce, meeting shifts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churn predictor. Act in 48 hours or lose the account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93008"/>
            <a:ext cx="4160520" cy="102412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93008"/>
            <a:ext cx="54864" cy="1024128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Support Escalation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Ticket velocity spike  ·  3× churn risk when velocity spikes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133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&gt; individual ticket. Trend &gt; absolute count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15568"/>
            <a:ext cx="4160520" cy="102412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15568"/>
            <a:ext cx="54864" cy="1024128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Expansion Window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Budget cycles, new exec, usage surge  ·  Conditions align for organic upsell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755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 window and budget goes elsewhere for 12 months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04288"/>
            <a:ext cx="4160520" cy="1024128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04288"/>
            <a:ext cx="54864" cy="10241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Renewal Gravity Well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T-180, not T-90  ·  Unresolved issues, declining health trends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944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 T-90 is too late. T-180 is where saves happen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3.2  |  NEGATIVE TOUCHPOINTS — THE RELATIONSHIP TAX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checking in" is destroying your customer relationships.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21031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hours/year per CSM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$17K in eroded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of Negative Touchpoints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544068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6459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questions you already have the answer 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544068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21488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1488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meetings with no clear value proposition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37560" y="2606040"/>
            <a:ext cx="544068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26517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651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reports no one asked for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3108960"/>
            <a:ext cx="544068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31546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154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health checks that don't lead to 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3611880"/>
            <a:ext cx="544068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36576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3657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up on surveys with no changes made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3383280"/>
            <a:ext cx="8458200" cy="14173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383280"/>
            <a:ext cx="54864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493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Signal-Triggered Outreach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interaction must have a specific reason rooted in data. Not the calendar. Not habit. A signal: usage change, support pattern, health score shift, Moment That Matters. If you can't state why you're reaching out in one sentence tied to customer data — don't reach out yet.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3.3  |  TIME TO FIRST VALUE (T2FV)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T2FV is the only onboarding metric that actually predicts long-term retention.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182880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Days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self-serve, core feature activated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97480" cy="182880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97480" cy="54864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98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onboarding, integration setup, team enablement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697480" cy="182880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88720"/>
            <a:ext cx="269748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98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21–45 Days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Multi-dept rollout, custom config, exec alignment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8458200" cy="164592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00400"/>
            <a:ext cx="84582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10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Customers Stall — The Onboarding Waterfall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91640" y="377647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874520" y="3749040"/>
            <a:ext cx="118872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Access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63240" y="377647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3749040"/>
            <a:ext cx="1188720" cy="45720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461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Login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434840" y="377647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17720" y="3749040"/>
            <a:ext cx="1188720" cy="45720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Used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06440" y="377647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89320" y="3749040"/>
            <a:ext cx="1188720" cy="4572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Set Up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78040" y="377647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60920" y="3749040"/>
            <a:ext cx="1188720" cy="457200"/>
          </a:xfrm>
          <a:prstGeom prst="rect">
            <a:avLst/>
          </a:prstGeom>
          <a:solidFill>
            <a:srgbClr val="2EC4A5"/>
          </a:solidFill>
          <a:ln/>
        </p:spPr>
      </p:sp>
      <p:sp>
        <p:nvSpPr>
          <p:cNvPr id="39" name="Text 37"/>
          <p:cNvSpPr/>
          <p:nvPr/>
        </p:nvSpPr>
        <p:spPr>
          <a:xfrm>
            <a:off x="7360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T2FV Achieved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stalls happen at 'First Login' or 'Core Feature Used'. Fix these two and T2FV compresses by 40–60%.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| DAYS 22–30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Assessment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PORTFOLIO REVIEW — PASS CRITERIA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your manager. Every claim must be data-supported.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69080" cy="1280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2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True NRR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using the 5-step Truth Test. Not the reported number — the real 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69080" cy="1280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54864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52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T2FV Status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account onboarded in Phase 1. On track, completed, or stalled — and why.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4069080" cy="1280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51760"/>
            <a:ext cx="54864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61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Top 3 At-Risk Accounts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reasoning tied to health signals, not gut feel. Each claim verifiable.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4069080" cy="12801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651760"/>
            <a:ext cx="54864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761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Top 3 Expansion Candidates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3154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specific reasoning. Which Expansion Staircase step are they on?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4069080" cy="777240"/>
          </a:xfrm>
          <a:prstGeom prst="rect">
            <a:avLst/>
          </a:prstGeom>
          <a:solidFill>
            <a:srgbClr val="0D2E0D"/>
          </a:solidFill>
          <a:ln w="12700">
            <a:solidFill>
              <a:srgbClr val="2EC4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07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can verify every claim against actual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4069080"/>
            <a:ext cx="4069080" cy="777240"/>
          </a:xfrm>
          <a:prstGeom prst="rect">
            <a:avLst/>
          </a:prstGeom>
          <a:solidFill>
            <a:srgbClr val="2E0D0D"/>
          </a:solidFill>
          <a:ln w="12700">
            <a:solidFill>
              <a:srgbClr val="E05C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407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they're happy" — without a signal to back it up.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FIELD EXERCISES — COMPLETE ALL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optional. Your Week 4 presentation lives or dies on these exercises.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Account Audit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says vs. data shows — 5 accounts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88720"/>
            <a:ext cx="54864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True NRR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5-step Truth Test on your portfolio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188720"/>
            <a:ext cx="54864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Manual Health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top 5 accounts before looking at platform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23160"/>
            <a:ext cx="54864" cy="105156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Discovery Calls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 calls using the framework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42316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423160"/>
            <a:ext cx="54864" cy="105156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Stakeholder Maps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maps for 3 most important accounts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42316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423160"/>
            <a:ext cx="54864" cy="105156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Book Tiering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full book + document engagement plan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57600"/>
            <a:ext cx="54864" cy="105156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Moment Identification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most active Moment in your book right now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54680" y="365760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3657600"/>
            <a:ext cx="54864" cy="105156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Touchpoint Audit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last 10 interactions: value-add or negative?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3657600"/>
            <a:ext cx="2606040" cy="1051560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3657600"/>
            <a:ext cx="54864" cy="1051560"/>
          </a:xfrm>
          <a:prstGeom prst="rect">
            <a:avLst/>
          </a:prstGeom>
          <a:solidFill>
            <a:srgbClr val="F4A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3749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T2FV Definition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T2FV for top 10 accounts + stall analysis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 |  CSM Training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F6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your accounts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anyone else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building.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builds the commercial layer on top of that foundation.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822960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063240"/>
            <a:ext cx="54864" cy="4023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089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→ VPC 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1089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QBR. Build the Value Proof Conversation.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38728"/>
            <a:ext cx="822960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538728"/>
            <a:ext cx="54864" cy="4023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844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→ CSQL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5844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qualify your first expansion pipeline.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014216"/>
            <a:ext cx="8229600" cy="402336"/>
          </a:xfrm>
          <a:prstGeom prst="rect">
            <a:avLst/>
          </a:prstGeom>
          <a:solidFill>
            <a:srgbClr val="1926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014216"/>
            <a:ext cx="54864" cy="4023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599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→ AI Agent Workflow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0599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direct agents. Don't do their 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Shane James  |  Chief Customer Officer  |  CCO2go.ai  |  shane.james@cco2go.ai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CSM Training – Phase 1: Foundation &amp; Discovery</dc:title>
  <dc:subject>PptxGenJS Presentation</dc:subject>
  <dc:creator>R. Shane James | CCO2go.ai</dc:creator>
  <cp:lastModifiedBy>R. Shane James | CCO2go.ai</cp:lastModifiedBy>
  <cp:revision>1</cp:revision>
  <dcterms:created xsi:type="dcterms:W3CDTF">2026-02-18T17:35:41Z</dcterms:created>
  <dcterms:modified xsi:type="dcterms:W3CDTF">2026-02-18T17:35:41Z</dcterms:modified>
</cp:coreProperties>
</file>